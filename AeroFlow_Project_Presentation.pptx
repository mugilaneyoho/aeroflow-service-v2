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EA5E9"/>
                </a:solidFill>
                <a:latin typeface="Calibri"/>
              </a:defRPr>
            </a:pPr>
            <a:r>
              <a:t>AEROFLOW PLATFORM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Institute Internal Management System</a:t>
            </a:r>
          </a:p>
          <a:p>
            <a:pPr>
              <a:defRPr sz="1600">
                <a:solidFill>
                  <a:srgbClr val="CBD5E1"/>
                </a:solidFill>
                <a:latin typeface="Calibri"/>
              </a:defRPr>
            </a:pPr>
            <a:r>
              <a:t>Comprehensive End-to-End Digital Transformation from Telecalling &amp; Admissions to Virtual Classrooms &amp; Career Placements</a:t>
            </a:r>
          </a:p>
          <a:p>
            <a:br/>
            <a:pPr>
              <a:defRPr sz="1300" i="1">
                <a:solidFill>
                  <a:srgbClr val="0EA5E9"/>
                </a:solidFill>
              </a:defRPr>
            </a:pPr>
            <a:r>
              <a:t>Project Overview &amp; Architecture Presentation for Clients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Calibri"/>
              </a:defRPr>
            </a:pPr>
            <a:r>
              <a:t>AEROFLOW SYSTEM PRESENTATION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Executive Summary &amp; Operational Challenges Solved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Traditional Institute Pain Points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Fragmented Data: </a:t>
            </a:r>
            <a:r>
              <a:rPr b="0"/>
              <a:t>Telecalling, admissions, fees, and placements exist in disconnected spreadsheets and legacy software.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Lead Leakage: </a:t>
            </a:r>
            <a:r>
              <a:rPr b="0"/>
              <a:t>Lack of automated distribution leads to delayed follow-ups and unassigned student inquiries.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Reception Bottlenecks: </a:t>
            </a:r>
            <a:r>
              <a:rPr b="0"/>
              <a:t>Manual visitor entry logs delay guest meetings and lack status tracking.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Manual Fee Tracking: </a:t>
            </a:r>
            <a:r>
              <a:rPr b="0"/>
              <a:t>Lack of automated payment reconciliation causes error-prone accounting and lost receipts.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Placement Inefficiency: </a:t>
            </a:r>
            <a:r>
              <a:rPr b="0"/>
              <a:t>Determining student placement eligibility and managing interview schedules is cumbersome.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The AeroFlow Solution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Unified Ecosystem: </a:t>
            </a:r>
            <a:r>
              <a:rPr b="0"/>
              <a:t>Single microservices-driven platform uniting 8 specialized role portals.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Automated Lead Distribution: </a:t>
            </a:r>
            <a:r>
              <a:rPr b="0"/>
              <a:t>Instant lead import, automated telecaller assignment, and real-time status monitoring.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Digital Reception Desk: </a:t>
            </a:r>
            <a:r>
              <a:rPr b="0"/>
              <a:t>Instant visitor logging, automated meeting scheduling, and post-meeting review capture.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Automated Financials: </a:t>
            </a:r>
            <a:r>
              <a:rPr b="0"/>
              <a:t>Real-time fee tracking, automated PDF invoice generation, and payment gateway integration.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Integrated Placement Engine: </a:t>
            </a:r>
            <a:r>
              <a:rPr b="0"/>
              <a:t>Automated eligibility filtering, drive postings, and placement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Calibri"/>
              </a:defRPr>
            </a:pPr>
            <a:r>
              <a:t>AEROFLOW SYSTEM PRESENTATION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The Complete Student Lifecycle Journey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28416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1. Inquiry &amp; Telecalling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Lead captured via CSV/Web, auto-assigned to telecallers, status logged, demo booked.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371600"/>
            <a:ext cx="3328416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2. Reception &amp; Walk-in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Visitor greeted at reception, counselor meeting scheduled, feedback logged.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371600"/>
            <a:ext cx="3328416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3. Admission &amp; Fees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Student registered, branch/batch assigned, fee schedule set, instant invoice generated.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3328416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4. Training &amp; Classes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Enrolled in online/offline classes, attendance tracked, live video via OpenVidu.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840480"/>
            <a:ext cx="3328416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5. Support &amp; Ticketing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Raise queries/tickets via student portal, staff resolves with SLA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840480"/>
            <a:ext cx="3328416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6. Placement &amp; Hiring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Automated eligibility check, apply for campus drives, interview tracking to final offer.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Calibri"/>
              </a:defRPr>
            </a:pPr>
            <a:r>
              <a:t>AEROFLOW SYSTEM PRESENTATION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Core Modules: Telecalling &amp; Reception Management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Telecalling &amp; Lead Management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Bulk Import: </a:t>
            </a:r>
            <a:r>
              <a:rPr b="0"/>
              <a:t>Upload thousands of leads via CSV/Excel seamlessly into the queue.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Intelligent Assignment: </a:t>
            </a:r>
            <a:r>
              <a:rPr b="0"/>
              <a:t>Automated round-robin and manual lead allocation to telecallers.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Outreach Tracking: </a:t>
            </a:r>
            <a:r>
              <a:rPr b="0"/>
              <a:t>Track call statuses (Interested, Follow-up, Admitted, Not Interested).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Performance Metrics: </a:t>
            </a:r>
            <a:r>
              <a:rPr b="0"/>
              <a:t>Monitor employee conversion rates and daily calling reports.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Redis &amp; Queue Powered: </a:t>
            </a:r>
            <a:r>
              <a:rPr b="0"/>
              <a:t>High-throughput lead distribution built on Redis and RabbitMQ.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Reception &amp; Visitor Desk Management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Visitor Registration: </a:t>
            </a:r>
            <a:r>
              <a:rPr b="0"/>
              <a:t>Fast check-in for walk-in students, parents, and corporate guests.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Host Meeting Scheduling: </a:t>
            </a:r>
            <a:r>
              <a:rPr b="0"/>
              <a:t>Assign walk-ins directly to counselors, HODs, or staff members.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Meeting Status &amp; Reviews: </a:t>
            </a:r>
            <a:r>
              <a:rPr b="0"/>
              <a:t>Log meeting outcomes, notes, and follow-up requirements.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Branch Integration: </a:t>
            </a:r>
            <a:r>
              <a:rPr b="0"/>
              <a:t>Multi-branch support enabling centralized reception monitoring.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Calibri"/>
              </a:defRPr>
            </a:pPr>
            <a:r>
              <a:t>AEROFLOW SYSTEM PRESENTATION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Academic Management &amp; Live Virtual Classroom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Academic &amp; Class Management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Batch &amp; Course Catalog: </a:t>
            </a:r>
            <a:r>
              <a:rPr b="0"/>
              <a:t>Manage multi-branch courses, subjects, syllabi, and active batches.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Staff Allocation: </a:t>
            </a:r>
            <a:r>
              <a:rPr b="0"/>
              <a:t>Assign main trainers and assistant instructors to specific batches.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Attendance System: </a:t>
            </a:r>
            <a:r>
              <a:rPr b="0"/>
              <a:t>Digital daily attendance tracking for students and staff.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Progress Monitoring: </a:t>
            </a:r>
            <a:r>
              <a:rPr b="0"/>
              <a:t>Track batch completion schedules and curriculum coverage.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OpenVidu Live Video Classes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Virtual Classroom: </a:t>
            </a:r>
            <a:r>
              <a:rPr b="0"/>
              <a:t>Seamless WebRTC live video sessions integrated directly into the portal.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Interactive Learning: </a:t>
            </a:r>
            <a:r>
              <a:rPr b="0"/>
              <a:t>Real-time screen sharing, audio/video interaction, and chat.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Secure Room Generation: </a:t>
            </a:r>
            <a:r>
              <a:rPr b="0"/>
              <a:t>Automated token generation per session preventing unauthorized access.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Hybrid Class Ready: </a:t>
            </a:r>
            <a:r>
              <a:rPr b="0"/>
              <a:t>Supports both physical classroom and remote online student attendance.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Calibri"/>
              </a:defRPr>
            </a:pPr>
            <a:r>
              <a:t>AEROFLOW SYSTEM PRESENTATION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Financials, Student Support &amp; Placement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28416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Fee &amp; Financials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Structured Fees: </a:t>
            </a:r>
            <a:r>
              <a:rPr b="0"/>
              <a:t>Custom fee plans, down payments, and installment schedules.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Automated Invoices: </a:t>
            </a:r>
            <a:r>
              <a:rPr b="0"/>
              <a:t>PDF invoice generation upon payment receipt.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Payment Gateways: </a:t>
            </a:r>
            <a:r>
              <a:rPr b="0"/>
              <a:t>Online payment integration &amp; manual receipt entries.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Audit Trails: </a:t>
            </a:r>
            <a:r>
              <a:rPr b="0"/>
              <a:t>Clear ledger of all income and branch-wise receipts.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1371600"/>
            <a:ext cx="3328416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Support Ticketing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Student Helpdesk: </a:t>
            </a:r>
            <a:r>
              <a:rPr b="0"/>
              <a:t>Students raise tickets for academic, fee, or tech issues.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SLA &amp; Escalation: </a:t>
            </a:r>
            <a:r>
              <a:rPr b="0"/>
              <a:t>Route tickets to specific departments (HOD, Admin, IT).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Resolution Tracking: </a:t>
            </a:r>
            <a:r>
              <a:rPr b="0"/>
              <a:t>Status updates, responses, and satisfaction ratings.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Reduced Noise: </a:t>
            </a:r>
            <a:r>
              <a:rPr b="0"/>
              <a:t>Streamlines student communication into one dashboard.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371600"/>
            <a:ext cx="3328416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Placement Engine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Eligibility Filter: </a:t>
            </a:r>
            <a:r>
              <a:rPr b="0"/>
              <a:t>Automated screening based on attendance &amp; academic performance.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Drive Postings: </a:t>
            </a:r>
            <a:r>
              <a:rPr b="0"/>
              <a:t>Publish hiring drives with job specs &amp; requirements.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Application Flow: </a:t>
            </a:r>
            <a:r>
              <a:rPr b="0"/>
              <a:t>Students apply; admins review and shortlist candidates.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Interview Log: </a:t>
            </a:r>
            <a:r>
              <a:rPr b="0"/>
              <a:t>Track interview rounds, offers, and placement ratios.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Calibri"/>
              </a:defRPr>
            </a:pPr>
            <a:r>
              <a:t>AEROFLOW SYSTEM PRESENTATION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Micro-Frontend Ecosystem: 8 Specialized Role Portals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4688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Master Admin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patron-master-web: </a:t>
            </a:r>
            <a:r>
              <a:rPr b="0"/>
              <a:t>Full system configuration, global analytics, multi-branch control &amp; audit logs.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371600"/>
            <a:ext cx="24688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Department Head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patron-hod-web: </a:t>
            </a:r>
            <a:r>
              <a:rPr b="0"/>
              <a:t>Course curriculum management, staff allocation, and departmental performance.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371600"/>
            <a:ext cx="24688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Trainer / Staff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patron-staff-web: </a:t>
            </a:r>
            <a:r>
              <a:rPr b="0"/>
              <a:t>Class scheduling, attendance marking, student interaction, and class logs.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1371600"/>
            <a:ext cx="24688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Student Portal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patron-student-web: </a:t>
            </a:r>
            <a:r>
              <a:rPr b="0"/>
              <a:t>Course access, attendance report, fee status, ticket raising &amp; placement drives.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24688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Telecaller Workspace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patron-telecalling-web: </a:t>
            </a:r>
            <a:r>
              <a:rPr b="0"/>
              <a:t>Lead list management, calling queue, call outcome logger, and performance stats.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840480"/>
            <a:ext cx="24688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Reception Desk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patron-reception-web: </a:t>
            </a:r>
            <a:r>
              <a:rPr b="0"/>
              <a:t>Visitor entry management, guest meeting scheduling, and post-meeting updates.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840480"/>
            <a:ext cx="24688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Placement Officer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patron-placement-web: </a:t>
            </a:r>
            <a:r>
              <a:rPr b="0"/>
              <a:t>Hiring drive creation, eligible student shortlisting, and company outreach.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3840480"/>
            <a:ext cx="24688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Helpdesk Desk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patron-ticket-web: </a:t>
            </a:r>
            <a:r>
              <a:rPr b="0"/>
              <a:t>Centralized ticket triage, assignment, response management, and resolution logs.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Calibri"/>
              </a:defRPr>
            </a:pPr>
            <a:r>
              <a:t>AEROFLOW SYSTEM PRESENTATION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Enterprise Backend Architecture (AeroFlow-service)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Microservice Architecture Highlights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Central API Gateway: </a:t>
            </a:r>
            <a:r>
              <a:rPr b="0"/>
              <a:t>Single Node.js entry point with JWT authentication, routing, and rate-limiting middleware.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gRPC Inter-Service Comm: </a:t>
            </a:r>
            <a:r>
              <a:rPr b="0"/>
              <a:t>High-speed, low-latency binary gRPC protocols between core services (Auth, Institute, Payment).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Isolated Databases: </a:t>
            </a:r>
            <a:r>
              <a:rPr b="0"/>
              <a:t>Database-per-service pattern using PostgreSQL for strong data isolation and integrity.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Containerized Deployment: </a:t>
            </a:r>
            <a:r>
              <a:rPr b="0"/>
              <a:t>Docker &amp; Docker-Compose orchestrating 13+ microservices independently.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Fault Isolation: </a:t>
            </a:r>
            <a:r>
              <a:rPr b="0"/>
              <a:t>Failure in one service (e.g., mail) does not affect core learning or payment flows.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Core Microservices Breakdown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authentication-service: </a:t>
            </a:r>
            <a:r>
              <a:rPr b="0"/>
              <a:t>gRPC/HTTP auth, RBAC management, multi-role tokens, crypto security.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institute-service: </a:t>
            </a:r>
            <a:r>
              <a:rPr b="0"/>
              <a:t>Branches, courses, batches, and institute profiles.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telecalling-service: </a:t>
            </a:r>
            <a:r>
              <a:rPr b="0"/>
              <a:t>Lead assignment, employee management, call status tracking.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training-service: </a:t>
            </a:r>
            <a:r>
              <a:rPr b="0"/>
              <a:t>Staff allocation, student enrollment, class schedules, attendance.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payment-service: </a:t>
            </a:r>
            <a:r>
              <a:rPr b="0"/>
              <a:t>Fee management, transaction processing, invoice generation.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placement-service: </a:t>
            </a:r>
            <a:r>
              <a:rPr b="0"/>
              <a:t>Placement drives, eligibility validation, application tracking.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reception-service: </a:t>
            </a:r>
            <a:r>
              <a:rPr b="0"/>
              <a:t>Visitor logs, meeting management, reception profiles.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notifiyandlogs &amp; mailservice: </a:t>
            </a:r>
            <a:r>
              <a:rPr b="0"/>
              <a:t>Async email/SMS notifications, Sentry error logging, audit trails.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Calibri"/>
              </a:defRPr>
            </a:pPr>
            <a:r>
              <a:t>AEROFLOW SYSTEM PRESENTATION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Modern, High-Performance 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50815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Backend Services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Node.js / Express / NestJS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gRPC Inter-service protocol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RESTful API Gateway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371600"/>
            <a:ext cx="5150815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Frontend Web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React / Modern Web Stack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Micro-Frontend modular design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Responsive UI / CSS Tailwind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150815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Database &amp; Caching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PostgreSQL 16 relational DB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Redis in-memory caching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Bull queue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840480"/>
            <a:ext cx="5150815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Messaging &amp; Infra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RabbitMQ &amp; Kafka brokers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Docker &amp; Docker-Compose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OpenVidu WebRTC Server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Calibri"/>
              </a:defRPr>
            </a:pPr>
            <a:r>
              <a:t>AEROFLOW SYSTEM PRESENTATION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Enterprise Security, Monitoring &amp; Reliability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28416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Data Security &amp; Auth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RBAC Authorization: </a:t>
            </a:r>
            <a:r>
              <a:rPr b="0"/>
              <a:t>Strict role-based access control across all 8 portals.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JWT Token Auth: </a:t>
            </a:r>
            <a:r>
              <a:rPr b="0"/>
              <a:t>Encrypted tokens with granular permission scopes.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Data Encryption: </a:t>
            </a:r>
            <a:r>
              <a:rPr b="0"/>
              <a:t>Crypto secret hashing for sensitive fields and credentials.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1371600"/>
            <a:ext cx="3328416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Monitoring &amp; Auditing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Sentry Error Tracking: </a:t>
            </a:r>
            <a:r>
              <a:rPr b="0"/>
              <a:t>Real-time error capture and diagnostic stack traces.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Audit Logging: </a:t>
            </a:r>
            <a:r>
              <a:rPr b="0"/>
              <a:t>Centralized audit log service recording all critical admin actions.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Health Check Diagnostics: </a:t>
            </a:r>
            <a:r>
              <a:rPr b="0"/>
              <a:t>Docker healthchecks for database &amp; service status.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371600"/>
            <a:ext cx="3328416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High Availability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Async Task Queues: </a:t>
            </a:r>
            <a:r>
              <a:rPr b="0"/>
              <a:t>Redis &amp; RabbitMQ handle heavy email and background jobs.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Independent Scalability: </a:t>
            </a:r>
            <a:r>
              <a:rPr b="0"/>
              <a:t>Scale telecalling or video services independently as load spikes.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Graceful Degradation: </a:t>
            </a:r>
            <a:r>
              <a:rPr b="0"/>
              <a:t>Isolated services ensure core operations stay online.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Calibri"/>
              </a:defRPr>
            </a:pPr>
            <a:r>
              <a:t>AEROFLOW SYSTEM PRESENTATION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Business Impact &amp; Value Delivered to Institutions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50815" cy="2194560"/>
          </a:xfrm>
          <a:prstGeom prst="roundRect">
            <a:avLst/>
          </a:prstGeom>
          <a:solidFill>
            <a:srgbClr val="F0F9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2200" b="1">
                <a:solidFill>
                  <a:srgbClr val="1E3A8A"/>
                </a:solidFill>
                <a:latin typeface="Calibri"/>
              </a:defRPr>
            </a:pPr>
            <a:r>
              <a:t>70% Reduction</a:t>
            </a:r>
          </a:p>
          <a:p>
            <a:pPr>
              <a:defRPr sz="1400">
                <a:solidFill>
                  <a:srgbClr val="1E293B"/>
                </a:solidFill>
                <a:latin typeface="Calibri"/>
              </a:defRPr>
            </a:pPr>
            <a:r>
              <a:t>In manual administrative overhead across reception, fee collection, and attendance.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371600"/>
            <a:ext cx="5150815" cy="2194560"/>
          </a:xfrm>
          <a:prstGeom prst="roundRect">
            <a:avLst/>
          </a:prstGeom>
          <a:solidFill>
            <a:srgbClr val="F0F9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2200" b="1">
                <a:solidFill>
                  <a:srgbClr val="1E3A8A"/>
                </a:solidFill>
                <a:latin typeface="Calibri"/>
              </a:defRPr>
            </a:pPr>
            <a:r>
              <a:t>35% Higher Lead Conversion</a:t>
            </a:r>
          </a:p>
          <a:p>
            <a:pPr>
              <a:defRPr sz="1400">
                <a:solidFill>
                  <a:srgbClr val="1E293B"/>
                </a:solidFill>
                <a:latin typeface="Calibri"/>
              </a:defRPr>
            </a:pPr>
            <a:r>
              <a:t>Faster telecaller response times and automated lead assignment eliminate lost inquiries.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150815" cy="2194560"/>
          </a:xfrm>
          <a:prstGeom prst="roundRect">
            <a:avLst/>
          </a:prstGeom>
          <a:solidFill>
            <a:srgbClr val="F0F9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2200" b="1">
                <a:solidFill>
                  <a:srgbClr val="1E3A8A"/>
                </a:solidFill>
                <a:latin typeface="Calibri"/>
              </a:defRPr>
            </a:pPr>
            <a:r>
              <a:t>100% Financial Accuracy</a:t>
            </a:r>
          </a:p>
          <a:p>
            <a:pPr>
              <a:defRPr sz="1400">
                <a:solidFill>
                  <a:srgbClr val="1E293B"/>
                </a:solidFill>
                <a:latin typeface="Calibri"/>
              </a:defRPr>
            </a:pPr>
            <a:r>
              <a:t>Automated invoice generation and payment tracking remove accounting mismatches.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840480"/>
            <a:ext cx="5150815" cy="2194560"/>
          </a:xfrm>
          <a:prstGeom prst="roundRect">
            <a:avLst/>
          </a:prstGeom>
          <a:solidFill>
            <a:srgbClr val="F0F9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2200" b="1">
                <a:solidFill>
                  <a:srgbClr val="1E3A8A"/>
                </a:solidFill>
                <a:latin typeface="Calibri"/>
              </a:defRPr>
            </a:pPr>
            <a:r>
              <a:t>Enhanced Student Satisfaction</a:t>
            </a:r>
          </a:p>
          <a:p>
            <a:pPr>
              <a:defRPr sz="1400">
                <a:solidFill>
                  <a:srgbClr val="1E293B"/>
                </a:solidFill>
                <a:latin typeface="Calibri"/>
              </a:defRPr>
            </a:pPr>
            <a:r>
              <a:t>Self-service student portal, live online classes, and instant support ticketing.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EA5E9"/>
                </a:solidFill>
                <a:latin typeface="Calibri"/>
              </a:defRPr>
            </a:pPr>
            <a:r>
              <a:t>NEXT STEPS &amp; IMPLEMENTATION ROADMAP</a:t>
            </a:r>
          </a:p>
          <a:p>
            <a:pPr>
              <a:spcAft>
                <a:spcPts val="20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Transform Your Institute with AeroFlow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1. Live Product Demonstration &amp; Customized Workflow Assessment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2. Multi-Branch &amp; Data Migration Configuration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3. Staff &amp; Telecaller Onboarding Workshops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4. Seamless Go-Live &amp; 24/7 Enterprise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